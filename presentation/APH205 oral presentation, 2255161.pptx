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364" r:id="rId2"/>
    <p:sldId id="593" r:id="rId3"/>
    <p:sldId id="594" r:id="rId4"/>
    <p:sldId id="595" r:id="rId5"/>
    <p:sldId id="596" r:id="rId6"/>
    <p:sldId id="598" r:id="rId7"/>
    <p:sldId id="597" r:id="rId8"/>
    <p:sldId id="600" r:id="rId9"/>
    <p:sldId id="599" r:id="rId10"/>
    <p:sldId id="601" r:id="rId11"/>
    <p:sldId id="602" r:id="rId12"/>
    <p:sldId id="603" r:id="rId13"/>
    <p:sldId id="604" r:id="rId14"/>
    <p:sldId id="605" r:id="rId15"/>
    <p:sldId id="606" r:id="rId16"/>
    <p:sldId id="608" r:id="rId17"/>
    <p:sldId id="607" r:id="rId18"/>
    <p:sldId id="609" r:id="rId19"/>
    <p:sldId id="539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zhe Guan" initials="JG" lastIdx="1" clrIdx="0"/>
  <p:cmAuthor id="2" name="作者" initials="A" lastIdx="0" clrIdx="1"/>
  <p:cmAuthor id="3" name="junzh" initials="j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544"/>
    <a:srgbClr val="000099"/>
    <a:srgbClr val="9999FF"/>
    <a:srgbClr val="99A6BF"/>
    <a:srgbClr val="00E7E3"/>
    <a:srgbClr val="CBFDFA"/>
    <a:srgbClr val="FFFFFF"/>
    <a:srgbClr val="CE57C1"/>
    <a:srgbClr val="6B80AF"/>
    <a:srgbClr val="020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F9BE4D-A44D-4BF6-9130-02C2D15ACC62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7A6F7483-AD51-4BB2-BFF7-51E7C561B77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61CD1CD9-BE7A-4372-960F-58A0519E9E6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4C91AC24-0927-4351-8D9E-A6BAEAFC5995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6616B191-23DE-4F32-90B0-1025D081D54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DCD97CE5-BD78-405B-860B-55FEACC2E020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C614A684-C6E3-4B20-BC48-6D3D48CBB0A4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0070C0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0070C0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0C0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0C0"/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insideV>
        </a:tcBdr>
        <a:fill>
          <a:solidFill>
            <a:srgbClr val="0070C0"/>
          </a:solidFill>
        </a:fill>
      </a:tcStyle>
    </a:firstRow>
    <a:neCell>
      <a:tcStyle>
        <a:tcBdr>
          <a:left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0070C0"/>
              </a:solidFill>
            </a:ln>
          </a:right>
          <a:top>
            <a:ln w="9525" cmpd="sng">
              <a:solidFill>
                <a:srgbClr val="0070C0"/>
              </a:solidFill>
            </a:ln>
          </a:top>
          <a:bottom>
            <a:ln w="9525" cmpd="sng">
              <a:solidFill>
                <a:srgbClr val="0070C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88256" autoAdjust="0"/>
  </p:normalViewPr>
  <p:slideViewPr>
    <p:cSldViewPr snapToGrid="0" snapToObjects="1" showGuides="1">
      <p:cViewPr varScale="1">
        <p:scale>
          <a:sx n="72" d="100"/>
          <a:sy n="72" d="100"/>
        </p:scale>
        <p:origin x="86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/>
              <a:t>Trendency of PCS and MCS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en-US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Permanent daytime</c:v>
                </c:pt>
                <c:pt idx="1">
                  <c:v>1–5 years</c:v>
                </c:pt>
                <c:pt idx="2">
                  <c:v>6–10 years</c:v>
                </c:pt>
                <c:pt idx="3">
                  <c:v>More than 10 years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48.8</c:v>
                </c:pt>
                <c:pt idx="1">
                  <c:v>47</c:v>
                </c:pt>
                <c:pt idx="2">
                  <c:v>46.9</c:v>
                </c:pt>
                <c:pt idx="3">
                  <c:v>45.7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CF-40C3-88FE-CD17C6B64C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Permanent daytime</c:v>
                </c:pt>
                <c:pt idx="1">
                  <c:v>1–5 years</c:v>
                </c:pt>
                <c:pt idx="2">
                  <c:v>6–10 years</c:v>
                </c:pt>
                <c:pt idx="3">
                  <c:v>More than 10 years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47.9</c:v>
                </c:pt>
                <c:pt idx="1">
                  <c:v>45</c:v>
                </c:pt>
                <c:pt idx="2">
                  <c:v>47.4</c:v>
                </c:pt>
                <c:pt idx="3">
                  <c:v>46.1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CF-40C3-88FE-CD17C6B64C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23414676"/>
        <c:axId val="404693450"/>
      </c:lineChart>
      <c:catAx>
        <c:axId val="5234146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404693450"/>
        <c:crosses val="autoZero"/>
        <c:auto val="1"/>
        <c:lblAlgn val="ctr"/>
        <c:lblOffset val="100"/>
        <c:noMultiLvlLbl val="0"/>
      </c:catAx>
      <c:valAx>
        <c:axId val="40469345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234146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851d396-29aa-4a1e-82e9-76fc3f9d6d23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/>
              <a:t>Trendency of PCS and MCS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Permanent daytime</c:v>
                </c:pt>
                <c:pt idx="1">
                  <c:v>1-6 days per month</c:v>
                </c:pt>
                <c:pt idx="2">
                  <c:v>7-12 days per month</c:v>
                </c:pt>
                <c:pt idx="3">
                  <c:v>More than 12 days per month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48.8</c:v>
                </c:pt>
                <c:pt idx="1">
                  <c:v>48.6</c:v>
                </c:pt>
                <c:pt idx="2">
                  <c:v>46.7</c:v>
                </c:pt>
                <c:pt idx="3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1A-4EC7-86F7-23C19B10D6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Permanent daytime</c:v>
                </c:pt>
                <c:pt idx="1">
                  <c:v>1-6 days per month</c:v>
                </c:pt>
                <c:pt idx="2">
                  <c:v>7-12 days per month</c:v>
                </c:pt>
                <c:pt idx="3">
                  <c:v>More than 12 days per month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47.9</c:v>
                </c:pt>
                <c:pt idx="1">
                  <c:v>46.5</c:v>
                </c:pt>
                <c:pt idx="2">
                  <c:v>46.3</c:v>
                </c:pt>
                <c:pt idx="3">
                  <c:v>44.7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1A-4EC7-86F7-23C19B10D6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984983086"/>
        <c:axId val="312448694"/>
      </c:lineChart>
      <c:catAx>
        <c:axId val="98498308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312448694"/>
        <c:crosses val="autoZero"/>
        <c:auto val="1"/>
        <c:lblAlgn val="ctr"/>
        <c:lblOffset val="100"/>
        <c:noMultiLvlLbl val="0"/>
      </c:catAx>
      <c:valAx>
        <c:axId val="31244869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498308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cdfe92c-2667-4f13-bf22-efc3ced0a2a3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b="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ADF8-166D-464F-9CD6-EB1A92ACA0C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7EA8C-4442-2B43-BEFB-AB7F822E77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://www.xjtlu.edu.cn/en/" TargetMode="External"/><Relationship Id="rId7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" r="3675"/>
          <a:stretch>
            <a:fillRect/>
          </a:stretch>
        </p:blipFill>
        <p:spPr>
          <a:xfrm>
            <a:off x="-10983" y="3"/>
            <a:ext cx="12213968" cy="49509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740460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演讲标题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5370"/>
            <a:ext cx="8534400" cy="990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副标题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 rot="10800000">
            <a:off x="0" y="6672412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954315"/>
            <a:ext cx="3599695" cy="1801372"/>
          </a:xfrm>
          <a:prstGeom prst="rect">
            <a:avLst/>
          </a:prstGeom>
        </p:spPr>
      </p:pic>
      <p:pic>
        <p:nvPicPr>
          <p:cNvPr id="6" name="图片 5" descr="药学院logo蓝色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74230" y="5217795"/>
            <a:ext cx="3525477" cy="11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ampus6.JPG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2" y="0"/>
            <a:ext cx="12191999" cy="6722076"/>
          </a:xfrm>
          <a:prstGeom prst="rect">
            <a:avLst/>
          </a:prstGeom>
        </p:spPr>
      </p:pic>
      <p:sp>
        <p:nvSpPr>
          <p:cNvPr id="9" name="Title 1"/>
          <p:cNvSpPr txBox="1"/>
          <p:nvPr userDrawn="1"/>
        </p:nvSpPr>
        <p:spPr>
          <a:xfrm>
            <a:off x="0" y="2651653"/>
            <a:ext cx="12192000" cy="110067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spc="300" dirty="0">
              <a:solidFill>
                <a:srgbClr val="00004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1" y="2770096"/>
            <a:ext cx="12192001" cy="863795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Sub-title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4638"/>
            <a:ext cx="6595763" cy="1143000"/>
          </a:xfrm>
          <a:prstGeom prst="rect">
            <a:avLst/>
          </a:prstGeom>
        </p:spPr>
        <p:txBody>
          <a:bodyPr/>
          <a:lstStyle>
            <a:lvl1pPr algn="l">
              <a:defRPr sz="4800" b="1"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Sub-title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10800000">
            <a:off x="0" y="6672412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9729019" y="-69120"/>
            <a:ext cx="2462983" cy="6956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garden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24531" y="3803604"/>
            <a:ext cx="6167471" cy="3079110"/>
          </a:xfrm>
          <a:prstGeom prst="rect">
            <a:avLst/>
          </a:prstGeom>
        </p:spPr>
      </p:pic>
      <p:pic>
        <p:nvPicPr>
          <p:cNvPr id="4" name="Picture 3" descr="EnvSci_MiaOenato2.JP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022568" y="5692"/>
            <a:ext cx="6169432" cy="2939809"/>
          </a:xfrm>
          <a:prstGeom prst="rect">
            <a:avLst/>
          </a:prstGeom>
        </p:spPr>
      </p:pic>
      <p:pic>
        <p:nvPicPr>
          <p:cNvPr id="5" name="Picture 4" descr="ibss-students-lecture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3" y="3803606"/>
            <a:ext cx="6022567" cy="3079111"/>
          </a:xfrm>
          <a:prstGeom prst="rect">
            <a:avLst/>
          </a:prstGeom>
        </p:spPr>
      </p:pic>
      <p:pic>
        <p:nvPicPr>
          <p:cNvPr id="6" name="Picture 5" descr="XJTLU North Campus China(1).jpg"/>
          <p:cNvPicPr>
            <a:picLocks noChangeAspect="1"/>
          </p:cNvPicPr>
          <p:nvPr userDrawn="1"/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-1" y="5691"/>
            <a:ext cx="6022569" cy="293980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-1" y="2945501"/>
            <a:ext cx="12192001" cy="863795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Sub-title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4638"/>
            <a:ext cx="6595763" cy="1143000"/>
          </a:xfrm>
          <a:prstGeom prst="rect">
            <a:avLst/>
          </a:prstGeom>
        </p:spPr>
        <p:txBody>
          <a:bodyPr/>
          <a:lstStyle>
            <a:lvl1pPr algn="l">
              <a:defRPr sz="4800" b="1"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Sub-title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9729019" y="-69120"/>
            <a:ext cx="2462983" cy="6956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19"/>
          <a:stretch>
            <a:fillRect/>
          </a:stretch>
        </p:blipFill>
        <p:spPr>
          <a:xfrm>
            <a:off x="0" y="-1"/>
            <a:ext cx="12192000" cy="3441283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4473483" y="2828776"/>
            <a:ext cx="3245037" cy="1146627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Subtitle 2"/>
          <p:cNvSpPr txBox="1"/>
          <p:nvPr userDrawn="1"/>
        </p:nvSpPr>
        <p:spPr>
          <a:xfrm>
            <a:off x="3282964" y="4862367"/>
            <a:ext cx="2278505" cy="535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1200" b="1" cap="all" dirty="0">
                <a:solidFill>
                  <a:srgbClr val="FFFF00"/>
                </a:solidFill>
                <a:cs typeface="DIN-Regular"/>
                <a:hlinkClick r:id="rId3"/>
              </a:rPr>
              <a:t>www.xjtlu.edu.cn</a:t>
            </a:r>
            <a:endParaRPr lang="en-US" sz="1100" b="1" cap="all" dirty="0">
              <a:solidFill>
                <a:srgbClr val="FFFF00"/>
              </a:solidFill>
              <a:cs typeface="DIN-Regular"/>
            </a:endParaRPr>
          </a:p>
        </p:txBody>
      </p:sp>
      <p:sp>
        <p:nvSpPr>
          <p:cNvPr id="17" name="Subtitle 2"/>
          <p:cNvSpPr txBox="1"/>
          <p:nvPr userDrawn="1"/>
        </p:nvSpPr>
        <p:spPr>
          <a:xfrm>
            <a:off x="8642085" y="4912003"/>
            <a:ext cx="2039973" cy="46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1200" b="1" cap="all" spc="50" dirty="0">
                <a:solidFill>
                  <a:srgbClr val="BA55A0"/>
                </a:solidFill>
                <a:cs typeface="DIN-Regular"/>
              </a:rPr>
              <a:t>@</a:t>
            </a:r>
            <a:r>
              <a:rPr lang="zh-CN" altLang="en-US" sz="1200" b="1" cap="all" spc="50" dirty="0">
                <a:solidFill>
                  <a:srgbClr val="BA55A0"/>
                </a:solidFill>
                <a:cs typeface="DIN-Regular"/>
              </a:rPr>
              <a:t>西浦慧湖药学院</a:t>
            </a:r>
            <a:endParaRPr lang="en-US" sz="1200" b="1" cap="all" spc="50" dirty="0">
              <a:solidFill>
                <a:srgbClr val="BA55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Title 1"/>
          <p:cNvSpPr txBox="1"/>
          <p:nvPr userDrawn="1"/>
        </p:nvSpPr>
        <p:spPr>
          <a:xfrm>
            <a:off x="914400" y="2615091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 cap="all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谢谢</a:t>
            </a:r>
            <a:endParaRPr lang="en-US" sz="6000" b="1" cap="all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Subtitle 2"/>
          <p:cNvSpPr txBox="1"/>
          <p:nvPr userDrawn="1"/>
        </p:nvSpPr>
        <p:spPr>
          <a:xfrm>
            <a:off x="3226992" y="4494387"/>
            <a:ext cx="1890193" cy="472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zh-CN" altLang="en-US" sz="2400" b="1" cap="all" dirty="0">
                <a:solidFill>
                  <a:srgbClr val="000044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关注西浦</a:t>
            </a:r>
            <a:endParaRPr lang="en-US" sz="2400" b="1" cap="all" dirty="0">
              <a:solidFill>
                <a:srgbClr val="000044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363803" y="4300187"/>
            <a:ext cx="384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/>
          <p:cNvSpPr txBox="1"/>
          <p:nvPr userDrawn="1"/>
        </p:nvSpPr>
        <p:spPr>
          <a:xfrm>
            <a:off x="8591970" y="4487128"/>
            <a:ext cx="1901071" cy="479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zh-CN" altLang="en-US" sz="2400" b="1" cap="all" dirty="0">
                <a:solidFill>
                  <a:srgbClr val="000044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关注我们</a:t>
            </a:r>
            <a:endParaRPr lang="en-US" sz="2400" b="1" cap="all" dirty="0">
              <a:solidFill>
                <a:srgbClr val="000044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728782" y="4300187"/>
            <a:ext cx="384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954315"/>
            <a:ext cx="3599695" cy="1801372"/>
          </a:xfrm>
          <a:prstGeom prst="rect">
            <a:avLst/>
          </a:prstGeom>
        </p:spPr>
      </p:pic>
      <p:grpSp>
        <p:nvGrpSpPr>
          <p:cNvPr id="20" name="Group 19"/>
          <p:cNvGrpSpPr/>
          <p:nvPr userDrawn="1"/>
        </p:nvGrpSpPr>
        <p:grpSpPr>
          <a:xfrm>
            <a:off x="1921517" y="4253800"/>
            <a:ext cx="946785" cy="936625"/>
            <a:chOff x="5749931" y="4675805"/>
            <a:chExt cx="1026369" cy="100025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74" t="48903" r="27529" b="25883"/>
            <a:stretch>
              <a:fillRect/>
            </a:stretch>
          </p:blipFill>
          <p:spPr>
            <a:xfrm>
              <a:off x="5749931" y="4675805"/>
              <a:ext cx="1026369" cy="52873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50194" r="73907" b="25186"/>
            <a:stretch>
              <a:fillRect/>
            </a:stretch>
          </p:blipFill>
          <p:spPr>
            <a:xfrm>
              <a:off x="5994802" y="5159767"/>
              <a:ext cx="561508" cy="516294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633" y="4187467"/>
            <a:ext cx="1097280" cy="1097280"/>
          </a:xfrm>
          <a:prstGeom prst="rect">
            <a:avLst/>
          </a:prstGeom>
        </p:spPr>
      </p:pic>
      <p:pic>
        <p:nvPicPr>
          <p:cNvPr id="2" name="图片 1" descr="药学院logo蓝色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68185" y="5284470"/>
            <a:ext cx="3525477" cy="11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B2A4-F00C-4556-A450-4FF9AE155DF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5/14/2025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3A356-9A10-4449-A7A8-BBD69888C06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2025/5/14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rot="10800000">
            <a:off x="0" y="6672412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97" y="0"/>
            <a:ext cx="2021978" cy="6812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250" y="598805"/>
            <a:ext cx="12192635" cy="130873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+mn-lt"/>
              </a:rPr>
              <a:t>The Association Between Shift Work, Sleep Quality, and Health-Related Quality of Life Among Logistics Workers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991485" y="2704465"/>
            <a:ext cx="6400800" cy="1315720"/>
          </a:xfrm>
        </p:spPr>
        <p:txBody>
          <a:bodyPr>
            <a:normAutofit fontScale="97500" lnSpcReduction="10000"/>
          </a:bodyPr>
          <a:lstStyle/>
          <a:p>
            <a:r>
              <a:rPr lang="en-US" altLang="zh-CN" sz="4000" dirty="0">
                <a:latin typeface="+mj-lt"/>
              </a:rPr>
              <a:t>Yongbo Xia</a:t>
            </a:r>
          </a:p>
          <a:p>
            <a:r>
              <a:rPr lang="en-US" altLang="zh-CN" sz="4000" dirty="0">
                <a:latin typeface="+mj-lt"/>
              </a:rPr>
              <a:t>2255161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67715"/>
          </a:xfrm>
        </p:spPr>
        <p:txBody>
          <a:bodyPr/>
          <a:lstStyle/>
          <a:p>
            <a:r>
              <a:rPr lang="en-US" altLang="zh-CN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755" y="1278890"/>
            <a:ext cx="10972800" cy="5440680"/>
          </a:xfrm>
        </p:spPr>
        <p:txBody>
          <a:bodyPr/>
          <a:lstStyle/>
          <a:p>
            <a:r>
              <a:rPr lang="en-US" altLang="zh-CN"/>
              <a:t>Introduction</a:t>
            </a:r>
            <a:endParaRPr lang="en-US" altLang="zh-CN" sz="32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Method</a:t>
            </a:r>
          </a:p>
          <a:p>
            <a:endParaRPr lang="en-US" altLang="zh-CN"/>
          </a:p>
          <a:p>
            <a:r>
              <a:rPr lang="en-US" altLang="zh-CN"/>
              <a:t>Result</a:t>
            </a:r>
          </a:p>
          <a:p>
            <a:endParaRPr lang="en-US" altLang="zh-CN"/>
          </a:p>
          <a:p>
            <a:r>
              <a:rPr lang="en-US" altLang="zh-CN"/>
              <a:t>Discussion</a:t>
            </a:r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909955"/>
          </a:xfrm>
        </p:spPr>
        <p:txBody>
          <a:bodyPr/>
          <a:lstStyle/>
          <a:p>
            <a:r>
              <a:rPr lang="en-US" altLang="zh-CN"/>
              <a:t>INTRODUCTION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18515"/>
            <a:ext cx="12128500" cy="57315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Background</a:t>
            </a:r>
            <a:endParaRPr lang="en-US" altLang="zh-CN" dirty="0"/>
          </a:p>
          <a:p>
            <a:r>
              <a:rPr lang="en-US" altLang="zh-CN" dirty="0">
                <a:cs typeface="+mn-lt"/>
              </a:rPr>
              <a:t>Development of logistics industry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altLang="zh-CN" b="1" dirty="0"/>
              <a:t>Research Gap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Night shift work and physical and mental health of </a:t>
            </a:r>
            <a:r>
              <a:rPr lang="en-US" altLang="zh-CN" dirty="0">
                <a:sym typeface="+mn-ea"/>
              </a:rPr>
              <a:t>logistics workers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altLang="zh-CN" b="1" dirty="0"/>
              <a:t>Aims:</a:t>
            </a:r>
            <a:endParaRPr lang="en-US" altLang="zh-CN" dirty="0"/>
          </a:p>
          <a:p>
            <a:r>
              <a:rPr lang="en-US" altLang="zh-CN" dirty="0"/>
              <a:t>Night shift work and the decreased in physical and mental </a:t>
            </a:r>
            <a:r>
              <a:rPr lang="en-US" altLang="zh-CN" dirty="0">
                <a:sym typeface="+mn-ea"/>
              </a:rPr>
              <a:t>Health-Related Quality of Life </a:t>
            </a:r>
            <a:r>
              <a:rPr lang="en-US" altLang="zh-CN" dirty="0"/>
              <a:t>among logistics workers</a:t>
            </a:r>
          </a:p>
          <a:p>
            <a:r>
              <a:rPr lang="en-US" altLang="zh-CN" dirty="0"/>
              <a:t>Certain sleep characteristics play as a mediator.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-317"/>
            <a:ext cx="6595763" cy="1143000"/>
          </a:xfrm>
        </p:spPr>
        <p:txBody>
          <a:bodyPr/>
          <a:lstStyle/>
          <a:p>
            <a:r>
              <a:rPr lang="en-US" altLang="zh-CN"/>
              <a:t>METHOD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916305"/>
            <a:ext cx="12192635" cy="55606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/>
              <a:t>Research type:</a:t>
            </a:r>
          </a:p>
          <a:p>
            <a:r>
              <a:rPr lang="en-US" altLang="zh-CN" sz="2800"/>
              <a:t>Cross- sectional study</a:t>
            </a:r>
          </a:p>
          <a:p>
            <a:pPr marL="0" indent="0">
              <a:buNone/>
            </a:pPr>
            <a:r>
              <a:rPr lang="en-US" altLang="zh-CN" sz="2800" b="1">
                <a:sym typeface="+mn-ea"/>
              </a:rPr>
              <a:t>Sample method:</a:t>
            </a:r>
            <a:endParaRPr lang="en-US" altLang="zh-CN" sz="2800" b="1">
              <a:solidFill>
                <a:schemeClr val="tx1"/>
              </a:solidFill>
            </a:endParaRPr>
          </a:p>
          <a:p>
            <a:r>
              <a:rPr lang="en-US" altLang="zh-CN" sz="2800">
                <a:sym typeface="+mn-ea"/>
              </a:rPr>
              <a:t>Use online survey platform </a:t>
            </a:r>
          </a:p>
          <a:p>
            <a:pPr marL="0" indent="0">
              <a:buNone/>
            </a:pPr>
            <a:r>
              <a:rPr lang="en-US" altLang="zh-CN" b="1"/>
              <a:t>Target population:</a:t>
            </a:r>
          </a:p>
          <a:p>
            <a:r>
              <a:rPr lang="en-US" altLang="zh-CN" sz="2800">
                <a:sym typeface="+mn-ea"/>
              </a:rPr>
              <a:t>All logistics wokers who at least 18 years old in China.</a:t>
            </a:r>
          </a:p>
          <a:p>
            <a:pPr marL="0" indent="0">
              <a:buNone/>
            </a:pPr>
            <a:r>
              <a:rPr lang="en-US" altLang="zh-CN" b="1"/>
              <a:t>Sample population:</a:t>
            </a:r>
          </a:p>
          <a:p>
            <a:pPr lvl="0"/>
            <a:r>
              <a:rPr lang="en-US" altLang="zh-CN" sz="2800">
                <a:solidFill>
                  <a:schemeClr val="tx1"/>
                </a:solidFill>
              </a:rPr>
              <a:t>484 participants </a:t>
            </a: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 b="1">
              <a:solidFill>
                <a:schemeClr val="tx1"/>
              </a:solidFill>
            </a:endParaRPr>
          </a:p>
          <a:p>
            <a:endParaRPr lang="en-US" altLang="zh-CN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32155"/>
          </a:xfrm>
        </p:spPr>
        <p:txBody>
          <a:bodyPr/>
          <a:lstStyle/>
          <a:p>
            <a:r>
              <a:rPr lang="en-US" altLang="zh-CN"/>
              <a:t>METHOD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99515"/>
            <a:ext cx="12192000" cy="565848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sym typeface="+mn-ea"/>
              </a:rPr>
              <a:t>Main exposures:</a:t>
            </a:r>
          </a:p>
          <a:p>
            <a:r>
              <a:rPr lang="en-US" altLang="zh-CN" sz="2800"/>
              <a:t>The stage of shift work</a:t>
            </a:r>
            <a:endParaRPr lang="en-US" altLang="zh-CN" b="1"/>
          </a:p>
          <a:p>
            <a:r>
              <a:rPr lang="en-US" altLang="zh-CN" sz="2800">
                <a:sym typeface="+mn-ea"/>
              </a:rPr>
              <a:t>The years of night shift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The frequency of night shifts</a:t>
            </a:r>
          </a:p>
          <a:p>
            <a:pPr marL="0" indent="0">
              <a:buNone/>
            </a:pPr>
            <a:endParaRPr lang="en-US" altLang="zh-CN" sz="2800">
              <a:sym typeface="+mn-ea"/>
            </a:endParaRPr>
          </a:p>
          <a:p>
            <a:pPr marL="0" indent="0">
              <a:buNone/>
            </a:pPr>
            <a:r>
              <a:rPr lang="en-US" altLang="zh-CN" b="1"/>
              <a:t>Health-Related Quality of Life:</a:t>
            </a:r>
          </a:p>
          <a:p>
            <a:r>
              <a:rPr lang="en-US" altLang="zh-CN" sz="2800"/>
              <a:t>The Chinese version of the 12-Item Short Form Health Survey (SF-12)</a:t>
            </a:r>
          </a:p>
          <a:p>
            <a:r>
              <a:rPr lang="en-US" altLang="zh-CN" sz="2800"/>
              <a:t>Physical Component Summary (PCS) and Mental Component Summary (MCS)</a:t>
            </a:r>
          </a:p>
          <a:p>
            <a:pPr marL="0" indent="0">
              <a:buNone/>
            </a:pPr>
            <a:endParaRPr lang="en-US" altLang="zh-C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09295"/>
          </a:xfrm>
        </p:spPr>
        <p:txBody>
          <a:bodyPr/>
          <a:lstStyle/>
          <a:p>
            <a:r>
              <a:rPr lang="en-US" altLang="zh-CN"/>
              <a:t>METHOD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09295"/>
            <a:ext cx="12108180" cy="59385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sym typeface="+mn-ea"/>
              </a:rPr>
              <a:t>Sleep Characteristics:</a:t>
            </a:r>
            <a:endParaRPr lang="en-US" altLang="zh-CN" b="1"/>
          </a:p>
          <a:p>
            <a:r>
              <a:rPr lang="en-US" altLang="zh-CN" sz="2800">
                <a:sym typeface="+mn-ea"/>
              </a:rPr>
              <a:t>Sleep duration: Average daily regular sleep time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Nap duration: Average daily short period sleep time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Sleep quality: Measured by the Insomnia Severity Index (ISI)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 b="1">
                <a:sym typeface="+mn-ea"/>
              </a:rPr>
              <a:t>Covariates:</a:t>
            </a:r>
          </a:p>
          <a:p>
            <a:r>
              <a:rPr lang="en-US" altLang="zh-CN"/>
              <a:t>MBI</a:t>
            </a:r>
          </a:p>
          <a:p>
            <a:r>
              <a:rPr lang="en-US" altLang="zh-CN" sz="2800">
                <a:sym typeface="+mn-ea"/>
              </a:rPr>
              <a:t>Behavioral (Somking, Drinking)</a:t>
            </a:r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2263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98830"/>
            <a:ext cx="12094210" cy="57442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Descriptive statistics:</a:t>
            </a:r>
          </a:p>
          <a:p>
            <a:r>
              <a:rPr lang="en-US" altLang="zh-CN" sz="2800" dirty="0"/>
              <a:t>Shift Work</a:t>
            </a:r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Males accounted for 58.9% of all participants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66.5%  worked both day and night shifts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Only 6.2% night shift only .</a:t>
            </a:r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0170" y="2080289"/>
          <a:ext cx="8975267" cy="1808480"/>
        </p:xfrm>
        <a:graphic>
          <a:graphicData uri="http://schemas.openxmlformats.org/drawingml/2006/table">
            <a:tbl>
              <a:tblPr firstRow="1">
                <a:tableStyleId>{72F9BE4D-A44D-4BF6-9130-02C2D15ACC62}</a:tableStyleId>
              </a:tblPr>
              <a:tblGrid>
                <a:gridCol w="123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0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Daytime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Night shift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Both daytime and  night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68 (51.5%)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16 (53.3%)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 (62.4%)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285 (58.9%)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64 (48.5%)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14 (46.7%)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121 (37.6%)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199 (41.1%)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132 (27.3%)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30 (6.2%)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322 (66.5%)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484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2263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98830"/>
            <a:ext cx="12094210" cy="5744210"/>
          </a:xfrm>
        </p:spPr>
        <p:txBody>
          <a:bodyPr/>
          <a:lstStyle/>
          <a:p>
            <a:r>
              <a:rPr lang="en-US" altLang="zh-CN" sz="2800" dirty="0">
                <a:sym typeface="+mn-ea"/>
              </a:rPr>
              <a:t>Sleep Characteristics </a:t>
            </a: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pPr marL="0" indent="0">
              <a:buNone/>
            </a:pPr>
            <a:endParaRPr lang="en-US" altLang="zh-CN" sz="2800" dirty="0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sym typeface="+mn-ea"/>
              </a:rPr>
              <a:t>Longest sleep duration: only night shift workers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sym typeface="+mn-ea"/>
              </a:rPr>
              <a:t>Longest Nap duration: only daytime shift workers 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sym typeface="+mn-ea"/>
              </a:rPr>
              <a:t>Poorest sleep quality: workers in night shifts</a:t>
            </a:r>
          </a:p>
          <a:p>
            <a:pPr marL="0" indent="0">
              <a:buFont typeface="+mj-lt"/>
              <a:buNone/>
            </a:pPr>
            <a:endParaRPr lang="en-US" altLang="zh-CN" sz="2800" dirty="0">
              <a:sym typeface="+mn-ea"/>
            </a:endParaRPr>
          </a:p>
          <a:p>
            <a:pPr marL="0" indent="0">
              <a:buNone/>
            </a:pPr>
            <a:endParaRPr lang="en-US" altLang="zh-CN" sz="2800" dirty="0">
              <a:sym typeface="+mn-ea"/>
            </a:endParaRPr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1750" y="1548130"/>
          <a:ext cx="12062460" cy="2218055"/>
        </p:xfrm>
        <a:graphic>
          <a:graphicData uri="http://schemas.openxmlformats.org/drawingml/2006/table">
            <a:tbl>
              <a:tblPr firstRow="1">
                <a:tableStyleId>{7A6F7483-AD51-4BB2-BFF7-51E7C561B776}</a:tableStyleId>
              </a:tblPr>
              <a:tblGrid>
                <a:gridCol w="273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Daytime only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Night shift only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Both daytime and  night shift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Sleep duration, median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7.92 h (7.05 to 8.78)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8.40 h (6.40 to 10.40)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7.55 h (6.45 to 8.65)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7.70 h (6.57 to 8.83)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Nap duration, median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0.58 h (0.35 to 0.82)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0.57 h (0.35 to 0.78)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0.57 h (0.33 to 0.80)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0.57 h (0.33 to 0.80)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Sleep quality (ISI), mean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 (5.7)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10 (5.1)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10 (3.7)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 (5.3)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55015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69620"/>
            <a:ext cx="12059285" cy="55365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sym typeface="+mn-ea"/>
              </a:rPr>
              <a:t>Night Shift with Health-Related Quality of Life:</a:t>
            </a:r>
          </a:p>
          <a:p>
            <a:pPr marL="0" indent="0">
              <a:buNone/>
            </a:pPr>
            <a:r>
              <a:rPr lang="en-US" altLang="zh-CN" b="1">
                <a:sym typeface="+mn-ea"/>
              </a:rPr>
              <a:t>Before consider covariates:</a:t>
            </a:r>
          </a:p>
          <a:p>
            <a:r>
              <a:rPr lang="en-US" altLang="zh-CN">
                <a:sym typeface="+mn-ea"/>
              </a:rPr>
              <a:t>Shift work</a:t>
            </a:r>
          </a:p>
          <a:p>
            <a:pPr marL="0" indent="0">
              <a:buNone/>
            </a:pPr>
            <a:endParaRPr lang="en-US" altLang="zh-CN" b="1">
              <a:sym typeface="+mn-ea"/>
            </a:endParaRPr>
          </a:p>
          <a:p>
            <a:pPr marL="0" indent="0">
              <a:buNone/>
            </a:pPr>
            <a:endParaRPr lang="en-US" altLang="zh-CN" b="1">
              <a:sym typeface="+mn-ea"/>
            </a:endParaRPr>
          </a:p>
          <a:p>
            <a:pPr marL="0" indent="0">
              <a:buNone/>
            </a:pPr>
            <a:endParaRPr lang="en-US" altLang="zh-CN" b="1">
              <a:sym typeface="+mn-ea"/>
            </a:endParaRPr>
          </a:p>
          <a:p>
            <a:pPr marL="0" indent="0">
              <a:buNone/>
            </a:pPr>
            <a:endParaRPr lang="en-US" altLang="zh-CN" b="1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>
                <a:sym typeface="+mn-ea"/>
              </a:rPr>
              <a:t>Both the highest PCS and MCS : workers of daytime shifts 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>
                <a:sym typeface="+mn-ea"/>
              </a:rPr>
              <a:t>Night shift only workers has the lowest MCS scores </a:t>
            </a:r>
            <a:endParaRPr lang="en-US" altLang="zh-CN">
              <a:sym typeface="+mn-ea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339725" y="2563495"/>
          <a:ext cx="10888980" cy="1948815"/>
        </p:xfrm>
        <a:graphic>
          <a:graphicData uri="http://schemas.openxmlformats.org/drawingml/2006/table">
            <a:tbl>
              <a:tblPr firstRow="1">
                <a:tableStyleId>{61CD1CD9-BE7A-4372-960F-58A0519E9E67}</a:tableStyleId>
              </a:tblPr>
              <a:tblGrid>
                <a:gridCol w="294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0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Physical component, mean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Mental component, mean (SD)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Daytime shift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132 (27.3%)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48.8 (7.8)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47.9 (10.2)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Both daytime and night shifts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322 (66.5%)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47.0 (6.4)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46.1 (9.2)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Night shift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30 (6.2%)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46.8 (8.2)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44.4 (9.0)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850265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0160" y="850265"/>
            <a:ext cx="5092065" cy="396430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Years of night shift</a:t>
            </a:r>
            <a:r>
              <a:rPr lang="en-US" altLang="zh-CN" b="1" dirty="0">
                <a:sym typeface="+mn-ea"/>
              </a:rPr>
              <a:t>                       </a:t>
            </a:r>
          </a:p>
          <a:p>
            <a:pPr marL="0" indent="0">
              <a:buFont typeface="+mj-lt"/>
              <a:buNone/>
            </a:pPr>
            <a:r>
              <a:rPr lang="en-US" altLang="zh-CN" dirty="0"/>
              <a:t>                                                          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sz="2800" dirty="0"/>
          </a:p>
        </p:txBody>
      </p:sp>
      <p:graphicFrame>
        <p:nvGraphicFramePr>
          <p:cNvPr id="4" name="图表 3" descr="7b0a202020202263686172745265734964223a20223230343638363533220a7d0a"/>
          <p:cNvGraphicFramePr/>
          <p:nvPr/>
        </p:nvGraphicFramePr>
        <p:xfrm>
          <a:off x="0" y="1698625"/>
          <a:ext cx="5081905" cy="266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81905" y="850265"/>
            <a:ext cx="6697980" cy="38030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微软雅黑" panose="020B0503020204020204" pitchFamily="34" charset="-122"/>
                <a:cs typeface="+mn-lt"/>
              </a:rPr>
              <a:t>Frequency of night shift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3200" dirty="0">
              <a:ea typeface="微软雅黑" panose="020B0503020204020204" pitchFamily="34" charset="-122"/>
              <a:cs typeface="+mn-lt"/>
            </a:endParaRPr>
          </a:p>
        </p:txBody>
      </p:sp>
      <p:graphicFrame>
        <p:nvGraphicFramePr>
          <p:cNvPr id="7" name="图表 6" descr="7b0a202020202263686172745265734964223a202234343733313938220a7d0a"/>
          <p:cNvGraphicFramePr/>
          <p:nvPr/>
        </p:nvGraphicFramePr>
        <p:xfrm>
          <a:off x="5339715" y="1698625"/>
          <a:ext cx="6852285" cy="266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7790" y="5208905"/>
            <a:ext cx="12089130" cy="1274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indent="0" algn="l">
              <a:buNone/>
            </a:pPr>
            <a:r>
              <a:rPr lang="en-US" altLang="zh-CN" sz="2800">
                <a:ea typeface="微软雅黑" panose="020B0503020204020204" pitchFamily="34" charset="-122"/>
                <a:cs typeface="+mn-lt"/>
              </a:rPr>
              <a:t>In years and </a:t>
            </a:r>
            <a:r>
              <a:rPr lang="en-US" altLang="zh-CN" sz="2800">
                <a:ea typeface="微软雅黑" panose="020B0503020204020204" pitchFamily="34" charset="-122"/>
                <a:cs typeface="+mn-lt"/>
                <a:sym typeface="+mn-ea"/>
              </a:rPr>
              <a:t>frequency </a:t>
            </a:r>
            <a:r>
              <a:rPr lang="en-US" altLang="zh-CN" sz="2800">
                <a:ea typeface="微软雅黑" panose="020B0503020204020204" pitchFamily="34" charset="-122"/>
                <a:cs typeface="+mn-lt"/>
              </a:rPr>
              <a:t>of night shift, PCS and MCS scores have a decreasing trend  </a:t>
            </a:r>
          </a:p>
          <a:p>
            <a:pPr indent="0" algn="l">
              <a:buNone/>
            </a:pPr>
            <a:endParaRPr lang="en-US" altLang="zh-CN" sz="2800">
              <a:ea typeface="微软雅黑" panose="020B0503020204020204" pitchFamily="34" charset="-122"/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875665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75665"/>
            <a:ext cx="11582400" cy="534860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/>
              <a:t>After consider c</a:t>
            </a:r>
            <a:r>
              <a:rPr lang="en-US" altLang="zh-CN" b="1">
                <a:sym typeface="+mn-ea"/>
              </a:rPr>
              <a:t>ovariates</a:t>
            </a:r>
            <a:r>
              <a:rPr lang="en-US" altLang="zh-CN"/>
              <a:t>:</a:t>
            </a:r>
          </a:p>
          <a:p>
            <a:r>
              <a:rPr lang="en-US" altLang="zh-CN"/>
              <a:t>Shit work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Both PCS and MCS scores decreased.</a:t>
            </a:r>
          </a:p>
          <a:p>
            <a:r>
              <a:rPr lang="en-US" altLang="zh-CN"/>
              <a:t>The trendency of PCS is significantly statistical.</a:t>
            </a:r>
          </a:p>
          <a:p>
            <a:pPr marL="0" indent="0">
              <a:buNone/>
            </a:pPr>
            <a:endParaRPr lang="en-US" altLang="zh-CN" b="1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44475" y="2136140"/>
          <a:ext cx="10201910" cy="2585720"/>
        </p:xfrm>
        <a:graphic>
          <a:graphicData uri="http://schemas.openxmlformats.org/drawingml/2006/table">
            <a:tbl>
              <a:tblPr firstRow="1">
                <a:tableStyleId>{4C91AC24-0927-4351-8D9E-A6BAEAFC5995}</a:tableStyleId>
              </a:tblPr>
              <a:tblGrid>
                <a:gridCol w="3510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regression coefficient PCS(95%CI)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regression coefficient MCS(95%CI)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Daytime shift only(reference group)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Both daytime and night shifts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-1.42 (-3.03 to 0.18)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&lt;0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-0.86 (-2.72 to 1.00)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&lt;0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Night shift only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-2.28 (-5.31 to 0.75)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&lt;0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-3.13 (-6.63 to 0.37)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&lt;0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Statistics for trend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p=0.050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olidFill>
                            <a:srgbClr val="00B0F0"/>
                          </a:solidFill>
                          <a:sym typeface="+mn-ea"/>
                        </a:rPr>
                        <a:t>p=0.098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9629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96290"/>
            <a:ext cx="12112625" cy="5851525"/>
          </a:xfrm>
        </p:spPr>
        <p:txBody>
          <a:bodyPr/>
          <a:lstStyle/>
          <a:p>
            <a:r>
              <a:rPr lang="en-US" altLang="zh-CN">
                <a:sym typeface="+mn-ea"/>
              </a:rPr>
              <a:t>Years of night shift</a:t>
            </a: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 sz="2800"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sym typeface="+mn-ea"/>
              </a:rPr>
              <a:t>Years of night shif showed no significant associations with health outcomes.</a:t>
            </a:r>
          </a:p>
          <a:p>
            <a:pPr marL="0" indent="0">
              <a:buNone/>
            </a:pPr>
            <a:endParaRPr lang="en-US" altLang="zh-CN" sz="2800"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17500" y="1433195"/>
          <a:ext cx="11105515" cy="2286000"/>
        </p:xfrm>
        <a:graphic>
          <a:graphicData uri="http://schemas.openxmlformats.org/drawingml/2006/table">
            <a:tbl>
              <a:tblPr firstRow="1">
                <a:tableStyleId>{6616B191-23DE-4F32-90B0-1025D081D547}</a:tableStyleId>
              </a:tblPr>
              <a:tblGrid>
                <a:gridCol w="390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regression coefficient PCS(95%CI)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regression coefficient MCS(95%CI)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Permanent daytime(</a:t>
                      </a:r>
                      <a:r>
                        <a:rPr lang="en-US" altLang="zh-CN" sz="1800" b="1">
                          <a:sym typeface="+mn-ea"/>
                        </a:rPr>
                        <a:t> reference group</a:t>
                      </a:r>
                      <a:r>
                        <a:rPr lang="en-US" altLang="zh-CN" b="1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1–5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-1.40 (-3.15 to 0.35)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-1.62 (-3.64 to 0.40)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6-10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-1.78 (-3.72 to 0.16)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0.10 (-2.14 to 0.34)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More than 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-1.29 (-4.36 to 1.77)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-2.13 (-5.66 to 1.41)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Statistics for trend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P=0.111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P=0.603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774065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405" y="774065"/>
            <a:ext cx="12192000" cy="5840730"/>
          </a:xfrm>
        </p:spPr>
        <p:txBody>
          <a:bodyPr/>
          <a:lstStyle/>
          <a:p>
            <a:r>
              <a:rPr lang="en-US" altLang="zh-CN">
                <a:ea typeface="微软雅黑" panose="020B0503020204020204" pitchFamily="34" charset="-122"/>
                <a:cs typeface="+mn-lt"/>
                <a:sym typeface="+mn-ea"/>
              </a:rPr>
              <a:t>Frequency of night shift</a:t>
            </a:r>
          </a:p>
          <a:p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>
                <a:ea typeface="微软雅黑" panose="020B0503020204020204" pitchFamily="34" charset="-122"/>
                <a:cs typeface="+mn-lt"/>
                <a:sym typeface="+mn-ea"/>
              </a:rPr>
              <a:t>Health outcome has a significant decrease when working over 7 days night shifts per month. </a:t>
            </a:r>
          </a:p>
          <a:p>
            <a:pPr marL="514350" indent="-514350">
              <a:buAutoNum type="arabicPeriod"/>
            </a:pPr>
            <a:r>
              <a:rPr lang="en-US" altLang="zh-CN" sz="2800">
                <a:ea typeface="微软雅黑" panose="020B0503020204020204" pitchFamily="34" charset="-122"/>
                <a:cs typeface="+mn-lt"/>
                <a:sym typeface="+mn-ea"/>
              </a:rPr>
              <a:t>PCS trend have statistical significance</a:t>
            </a:r>
            <a:r>
              <a:rPr lang="en-US" altLang="zh-CN">
                <a:ea typeface="微软雅黑" panose="020B0503020204020204" pitchFamily="34" charset="-122"/>
                <a:cs typeface="+mn-lt"/>
                <a:sym typeface="+mn-ea"/>
              </a:rPr>
              <a:t>.</a:t>
            </a:r>
          </a:p>
          <a:p>
            <a:pPr marL="0" indent="0">
              <a:buNone/>
            </a:pPr>
            <a:endParaRPr lang="en-US" altLang="zh-CN">
              <a:ea typeface="微软雅黑" panose="020B0503020204020204" pitchFamily="34" charset="-122"/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753110" y="1498600"/>
          <a:ext cx="10258425" cy="2586355"/>
        </p:xfrm>
        <a:graphic>
          <a:graphicData uri="http://schemas.openxmlformats.org/drawingml/2006/table">
            <a:tbl>
              <a:tblPr firstRow="1">
                <a:tableStyleId>{DCD97CE5-BD78-405B-860B-55FEACC2E020}</a:tableStyleId>
              </a:tblPr>
              <a:tblGrid>
                <a:gridCol w="317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regression coefficient PCS(95%CI)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regression coefficient MCS(95%CI)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Permanent daytime(reference)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1–6 days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0.01 (-2.15 to 2.18)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-0.93 (-3.45 to 1.59)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7–12 days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-1.76 (-3.49 to -0.04)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-0.96 (-2.97 to 1.09)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More than 12 days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-2.62 (-4.79 to -0.46)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-1.68 (-4.20 to 0.84)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Statistics for trend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P=0.006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P=0.197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64262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6325" y="642620"/>
                <a:ext cx="12192000" cy="59029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Sleep Quality as a Mediator: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Calibri" panose="020F0502020204030204" charset="0"/>
                    <a:ea typeface="Calibri" panose="020F0502020204030204" charset="0"/>
                    <a:cs typeface="Calibri" panose="020F0502020204030204" charset="0"/>
                  </a:rPr>
                  <a:t>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ISI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libri" panose="020F050202020403020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libri" panose="020F0502020204030204" charset="0"/>
                          <a:cs typeface="Cambria Math" panose="02040503050406030204" pitchFamily="18" charset="0"/>
                        </a:rPr>
                        <m:t>𝑠h𝑖𝑓𝑡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libri" panose="020F050202020403020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𝑃𝐶𝑆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𝑀𝐶𝑆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𝑠h𝑖𝑓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𝐼𝑆𝐼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i="1" dirty="0">
                  <a:cs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𝑃𝐶𝑆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𝑀𝐶𝑆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𝑠h𝑖𝑓𝑡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libri" panose="020F050202020403020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rPr>
                  <a:t>:Effect of shift to ISI</a:t>
                </a:r>
                <a:endParaRPr lang="en-US" altLang="zh-CN" sz="28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libri" panose="020F0502020204030204" charset="0"/>
                    <a:ea typeface="Calibri" panose="020F0502020204030204" charset="0"/>
                    <a:cs typeface="Calibri" panose="020F0502020204030204" charset="0"/>
                  </a:rPr>
                  <a:t>: Direct Effect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libri" panose="020F0502020204030204" charset="0"/>
                    <a:ea typeface="Calibri" panose="020F0502020204030204" charset="0"/>
                    <a:cs typeface="Calibri" panose="020F0502020204030204" charset="0"/>
                  </a:rPr>
                  <a:t>: Effect of ISI to PCS/MCS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libri" panose="020F0502020204030204" charset="0"/>
                    <a:ea typeface="Calibri" panose="020F0502020204030204" charset="0"/>
                    <a:cs typeface="Calibri" panose="020F0502020204030204" charset="0"/>
                  </a:rPr>
                  <a:t>: Total effect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Calibri" panose="020F0502020204030204" charset="0"/>
                    <a:ea typeface="Calibri" panose="020F0502020204030204" charset="0"/>
                    <a:cs typeface="Calibri" panose="020F0502020204030204" charset="0"/>
                  </a:rPr>
                  <a:t>Shift: the types of  work shift</a:t>
                </a: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latin typeface="Calibri" panose="020F0502020204030204" charset="0"/>
                  <a:ea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25" y="642620"/>
                <a:ext cx="12192000" cy="5902960"/>
              </a:xfrm>
              <a:blipFill>
                <a:blip r:embed="rId2"/>
                <a:stretch>
                  <a:fillRect l="-1250" t="-1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-317"/>
            <a:ext cx="6595763" cy="114300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66140"/>
            <a:ext cx="12192000" cy="54819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Sleep Quality as a Mediator:</a:t>
            </a:r>
          </a:p>
          <a:p>
            <a:pPr marL="0" indent="0">
              <a:buNone/>
            </a:pPr>
            <a:endParaRPr lang="en-US" altLang="zh-CN" b="1" dirty="0"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zh-CN" b="1" dirty="0"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zh-CN" dirty="0"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zh-CN" dirty="0"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zh-CN"/>
          </a:p>
          <a:p>
            <a:pPr marL="0" indent="0">
              <a:buFont typeface="+mj-lt"/>
              <a:buNone/>
            </a:pP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1193991"/>
              </p:ext>
            </p:extLst>
          </p:nvPr>
        </p:nvGraphicFramePr>
        <p:xfrm>
          <a:off x="73025" y="1812290"/>
          <a:ext cx="11197590" cy="1900555"/>
        </p:xfrm>
        <a:graphic>
          <a:graphicData uri="http://schemas.openxmlformats.org/drawingml/2006/table">
            <a:tbl>
              <a:tblPr firstRow="1">
                <a:tableStyleId>{C614A684-C6E3-4B20-BC48-6D3D48CBB0A4}</a:tableStyleId>
              </a:tblPr>
              <a:tblGrid>
                <a:gridCol w="318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7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 </a:t>
                      </a:r>
                      <a:r>
                        <a:rPr lang="en-US" altLang="zh-CN" sz="1800" dirty="0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Mediation effect</a:t>
                      </a:r>
                      <a:r>
                        <a:rPr lang="en-US" altLang="zh-CN" dirty="0"/>
                        <a:t> (95% confidence interval), 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Direct Effect</a:t>
                      </a:r>
                      <a:r>
                        <a:rPr lang="zh-CN" altLang="en-US" sz="1800" dirty="0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dirty="0"/>
                        <a:t>95% confidence interval), P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Daytime shift only (reference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Both daytime and night shifts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-1.23 (-2.18 to -0.31) ,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-0.08 (-1.34 to 1.20) , </a:t>
                      </a: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0.928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Night shift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-2.10 (-3.73 to -0.48) ,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-0.34 (-3.09 to 2.24) , </a:t>
                      </a:r>
                      <a:r>
                        <a:rPr lang="en-US" altLang="zh-CN" b="1" dirty="0">
                          <a:solidFill>
                            <a:srgbClr val="00B0F0"/>
                          </a:solidFill>
                        </a:rPr>
                        <a:t>0.786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6064727"/>
              </p:ext>
            </p:extLst>
          </p:nvPr>
        </p:nvGraphicFramePr>
        <p:xfrm>
          <a:off x="73025" y="4189095"/>
          <a:ext cx="11727712" cy="1900555"/>
        </p:xfrm>
        <a:graphic>
          <a:graphicData uri="http://schemas.openxmlformats.org/drawingml/2006/table">
            <a:tbl>
              <a:tblPr firstRow="1">
                <a:tableStyleId>{C614A684-C6E3-4B20-BC48-6D3D48CBB0A4}</a:tableStyleId>
              </a:tblPr>
              <a:tblGrid>
                <a:gridCol w="298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1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8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Mediation effect</a:t>
                      </a:r>
                      <a:r>
                        <a:rPr lang="en-US" altLang="zh-CN" dirty="0"/>
                        <a:t>(95% confidence interval), 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Direct Effect</a:t>
                      </a:r>
                      <a:r>
                        <a:rPr lang="en-US" altLang="zh-CN" dirty="0"/>
                        <a:t>(95% confidence interval), P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Daytime shift only(reference)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Both daytime and night shifts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-1.17 (-2.13 to -0.28),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0.37 (-1.33 to 2.01), </a:t>
                      </a:r>
                      <a:r>
                        <a:rPr lang="en-US" altLang="zh-CN" b="1">
                          <a:solidFill>
                            <a:srgbClr val="00B0F0"/>
                          </a:solidFill>
                        </a:rPr>
                        <a:t>0.662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Night shift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-2.02 (-3.76 to -0.42), </a:t>
                      </a: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-0.88 (-3.95 to 2.28), </a:t>
                      </a:r>
                      <a:r>
                        <a:rPr lang="en-US" altLang="zh-CN" b="1" dirty="0">
                          <a:solidFill>
                            <a:srgbClr val="00B0F0"/>
                          </a:solidFill>
                        </a:rPr>
                        <a:t>0.538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-317"/>
            <a:ext cx="6595763" cy="1143000"/>
          </a:xfrm>
        </p:spPr>
        <p:txBody>
          <a:bodyPr/>
          <a:lstStyle/>
          <a:p>
            <a:r>
              <a:rPr lang="en-US" altLang="zh-CN"/>
              <a:t>RESULT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4825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Sleep Quality as a Mediator:</a:t>
            </a:r>
          </a:p>
          <a:p>
            <a:pPr marL="0" indent="0">
              <a:buNone/>
            </a:pPr>
            <a:r>
              <a:rPr lang="en-US" altLang="zh-C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 </a:t>
            </a:r>
            <a:endParaRPr lang="en-US" altLang="zh-CN" dirty="0">
              <a:ea typeface="Calibri" panose="020F0502020204030204" charset="0"/>
              <a:cs typeface="+mn-lt"/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Calibri" panose="020F0502020204030204" charset="0"/>
                <a:cs typeface="+mn-lt"/>
                <a:sym typeface="+mn-ea"/>
              </a:rPr>
              <a:t>The PCS and MCS scores of b</a:t>
            </a:r>
            <a:r>
              <a:rPr lang="en-US" altLang="zh-CN" sz="2800">
                <a:cs typeface="+mn-lt"/>
                <a:sym typeface="+mn-ea"/>
              </a:rPr>
              <a:t>oth daytime and night shifts </a:t>
            </a:r>
            <a:r>
              <a:rPr lang="en-US" altLang="zh-CN" sz="2800" dirty="0">
                <a:ea typeface="Calibri" panose="020F0502020204030204" charset="0"/>
                <a:cs typeface="+mn-lt"/>
                <a:sym typeface="+mn-ea"/>
              </a:rPr>
              <a:t>workers and working night shifts significant declines.</a:t>
            </a:r>
          </a:p>
          <a:p>
            <a:pPr marL="514350" indent="-514350">
              <a:buFont typeface="+mj-lt"/>
              <a:buAutoNum type="arabicPeriod"/>
            </a:pPr>
            <a:endParaRPr lang="en-US" altLang="zh-CN" sz="2800" dirty="0">
              <a:ea typeface="Calibri" panose="020F0502020204030204" charset="0"/>
              <a:cs typeface="+mn-lt"/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>
                <a:cs typeface="+mn-lt"/>
              </a:rPr>
              <a:t>The direct effect not significant, mediation significant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2800"/>
              <a:t>Sleep quality (ISI) is the only way shift work affects health</a:t>
            </a:r>
          </a:p>
          <a:p>
            <a:pPr marL="514350" indent="-514350">
              <a:buFont typeface="+mj-lt"/>
              <a:buAutoNum type="arabicPeriod"/>
            </a:pPr>
            <a:endParaRPr lang="en-US" altLang="zh-CN" sz="2800"/>
          </a:p>
          <a:p>
            <a:pPr marL="514350" indent="-514350">
              <a:buFont typeface="+mj-lt"/>
              <a:buAutoNum type="arabicPeriod"/>
            </a:pPr>
            <a:endParaRPr lang="zh-CN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803275"/>
          </a:xfrm>
        </p:spPr>
        <p:txBody>
          <a:bodyPr/>
          <a:lstStyle/>
          <a:p>
            <a:r>
              <a:rPr lang="en-US" altLang="zh-CN"/>
              <a:t>DISCUSSION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5825"/>
            <a:ext cx="12192000" cy="55035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Main Results:</a:t>
            </a:r>
          </a:p>
          <a:p>
            <a:r>
              <a:rPr lang="en-US" altLang="zh-CN" sz="2800" dirty="0"/>
              <a:t>Night shifts reduced the health-related quality of life in logistics workers.</a:t>
            </a:r>
            <a:endParaRPr lang="en-US" altLang="zh-CN" b="1" dirty="0"/>
          </a:p>
          <a:p>
            <a:r>
              <a:rPr lang="en-US" altLang="zh-CN" sz="2800" dirty="0"/>
              <a:t>The PCS and MCS scores of night shifts workers are lowest </a:t>
            </a:r>
          </a:p>
          <a:p>
            <a:r>
              <a:rPr lang="en-US" altLang="zh-CN" sz="2800" dirty="0"/>
              <a:t>A higher frequency of night shifts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2800" dirty="0"/>
              <a:t> significant deterioration in health status.</a:t>
            </a:r>
          </a:p>
          <a:p>
            <a:r>
              <a:rPr lang="en-US" altLang="zh-CN" sz="2800" dirty="0">
                <a:sym typeface="+mn-ea"/>
              </a:rPr>
              <a:t>Sleep quality as a mediator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/>
              <a:t>Advance:</a:t>
            </a:r>
          </a:p>
          <a:p>
            <a:r>
              <a:rPr lang="en-US" altLang="zh-CN" sz="2800" dirty="0"/>
              <a:t>Focus on the mental health of night shift workers</a:t>
            </a:r>
          </a:p>
          <a:p>
            <a:r>
              <a:rPr lang="en-US" altLang="zh-CN" sz="2800" dirty="0"/>
              <a:t>Promote the sleep quality of </a:t>
            </a:r>
            <a:r>
              <a:rPr lang="en-US" altLang="zh-CN" sz="2800" dirty="0" err="1"/>
              <a:t>wokers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95745" cy="803275"/>
          </a:xfrm>
        </p:spPr>
        <p:txBody>
          <a:bodyPr/>
          <a:lstStyle/>
          <a:p>
            <a:r>
              <a:rPr lang="en-US" altLang="zh-CN"/>
              <a:t>DISCUSSION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5825"/>
            <a:ext cx="12192000" cy="55035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/>
              <a:t>Adevantages:</a:t>
            </a:r>
          </a:p>
          <a:p>
            <a:r>
              <a:rPr lang="en-US" altLang="zh-CN" sz="2800"/>
              <a:t>Convenient and efficient</a:t>
            </a:r>
          </a:p>
          <a:p>
            <a:r>
              <a:rPr lang="en-US" altLang="zh-CN" sz="2800"/>
              <a:t>Sample range widely</a:t>
            </a:r>
          </a:p>
          <a:p>
            <a:pPr marL="0" indent="0">
              <a:buNone/>
            </a:pPr>
            <a:endParaRPr lang="en-US" altLang="zh-CN" sz="2800"/>
          </a:p>
          <a:p>
            <a:pPr marL="0" indent="0">
              <a:buNone/>
            </a:pPr>
            <a:r>
              <a:rPr lang="en-US" altLang="zh-CN" sz="2800" b="1"/>
              <a:t>Limatitions:</a:t>
            </a:r>
          </a:p>
          <a:p>
            <a:r>
              <a:rPr lang="en-US" altLang="zh-CN" sz="2800"/>
              <a:t>Small sample size (limited power)</a:t>
            </a:r>
          </a:p>
          <a:p>
            <a:r>
              <a:rPr lang="en-US" altLang="zh-CN" sz="2800"/>
              <a:t>Recall bias (self-reported data)</a:t>
            </a:r>
          </a:p>
          <a:p>
            <a:r>
              <a:rPr lang="en-US" altLang="zh-CN" sz="2800"/>
              <a:t>Reverse causality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6780" y="1624598"/>
            <a:ext cx="5690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Thank you for watching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60,50053052,50053024,50053246,50053121,50053017,50053368,50053008,50053044],&quot;8&quot;:[19692036,20475957,20468653,447319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5*142"/>
  <p:tag name="TABLE_ENDDRAG_RECT" val="95*293*655*14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9*158"/>
  <p:tag name="TABLE_ENDDRAG_RECT" val="2*355*949*15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8*149"/>
  <p:tag name="TABLE_ENDDRAG_RECT" val="7*195*898*14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164"/>
  <p:tag name="TABLE_ENDDRAG_RECT" val="144*263*671*16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164"/>
  <p:tag name="TABLE_ENDDRAG_RECT" val="144*263*671*164"/>
</p:tagLst>
</file>

<file path=ppt/theme/theme1.xml><?xml version="1.0" encoding="utf-8"?>
<a:theme xmlns:a="http://schemas.openxmlformats.org/drawingml/2006/main" name="Default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1251</Words>
  <Application>Microsoft Office PowerPoint</Application>
  <PresentationFormat>宽屏</PresentationFormat>
  <Paragraphs>294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DIN-Regular</vt:lpstr>
      <vt:lpstr>黑体</vt:lpstr>
      <vt:lpstr>微软雅黑</vt:lpstr>
      <vt:lpstr>Arial</vt:lpstr>
      <vt:lpstr>Arial Black</vt:lpstr>
      <vt:lpstr>Calibri</vt:lpstr>
      <vt:lpstr>Cambria Math</vt:lpstr>
      <vt:lpstr>Default Theme</vt:lpstr>
      <vt:lpstr>The Association Between Shift Work, Sleep Quality, and Health-Related Quality of Life Among Logistics Workers</vt:lpstr>
      <vt:lpstr>OUTLINE</vt:lpstr>
      <vt:lpstr>INTRODUCTION</vt:lpstr>
      <vt:lpstr>METHOD</vt:lpstr>
      <vt:lpstr>METHOD</vt:lpstr>
      <vt:lpstr>METHOD</vt:lpstr>
      <vt:lpstr>RESULT</vt:lpstr>
      <vt:lpstr>RESULT</vt:lpstr>
      <vt:lpstr>RESULT</vt:lpstr>
      <vt:lpstr>RESULT</vt:lpstr>
      <vt:lpstr>RESULT</vt:lpstr>
      <vt:lpstr>RESULT</vt:lpstr>
      <vt:lpstr>RESULT</vt:lpstr>
      <vt:lpstr>RESULT</vt:lpstr>
      <vt:lpstr>RESULT</vt:lpstr>
      <vt:lpstr>RESULT</vt:lpstr>
      <vt:lpstr>DISCUSSION</vt:lpstr>
      <vt:lpstr>DISCUSSION</vt:lpstr>
      <vt:lpstr>PowerPoint 演示文稿</vt:lpstr>
    </vt:vector>
  </TitlesOfParts>
  <Company>Xi'an Jiaotong-Liverpool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XJTLU</dc:title>
  <dc:creator>Tom Ennis</dc:creator>
  <cp:lastModifiedBy>雍博 夏</cp:lastModifiedBy>
  <cp:revision>699</cp:revision>
  <cp:lastPrinted>2017-09-14T05:15:00Z</cp:lastPrinted>
  <dcterms:created xsi:type="dcterms:W3CDTF">2016-01-19T04:00:00Z</dcterms:created>
  <dcterms:modified xsi:type="dcterms:W3CDTF">2025-05-14T07:28:42Z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0x0101000C92E395E8E08542BE84397FDFC4739E</vt:lpwstr>
  </property>
  <property fmtid="{D5CDD505-2E9C-101B-9397-08002B2CF9AE}" pid="3" name="Category">
    <vt:lpwstr/>
  </property>
  <property fmtid="{D5CDD505-2E9C-101B-9397-08002B2CF9AE}" pid="4" name="ICV">
    <vt:lpwstr>EFA08BD3DCFF47C3A9EE8CF4A3670FA4</vt:lpwstr>
  </property>
  <property fmtid="{D5CDD505-2E9C-101B-9397-08002B2CF9AE}" pid="5" name="KSOProductBuildVer">
    <vt:lpwstr>2052-12.1.0.20784</vt:lpwstr>
  </property>
</Properties>
</file>